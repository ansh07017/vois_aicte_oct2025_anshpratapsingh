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6" r:id="rId10"/>
    <p:sldId id="345" r:id="rId11"/>
    <p:sldId id="341" r:id="rId12"/>
    <p:sldId id="339" r:id="rId13"/>
    <p:sldId id="340" r:id="rId14"/>
    <p:sldId id="344"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10/3/2025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10/3/2025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10/3/2025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Ansh07017/VOIS_AICTE_Oct2025_AnshPratapSingh"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637315" y="4141999"/>
            <a:ext cx="4599992" cy="861497"/>
          </a:xfrm>
        </p:spPr>
        <p:txBody>
          <a:bodyPr>
            <a:normAutofit/>
          </a:bodyPr>
          <a:lstStyle/>
          <a:p>
            <a:pPr algn="r"/>
            <a:r>
              <a:rPr lang="en-US" b="0" dirty="0">
                <a:solidFill>
                  <a:schemeClr val="tx1"/>
                </a:solidFill>
              </a:rPr>
              <a:t>Ansh Pratap Singh</a:t>
            </a:r>
            <a:r>
              <a:rPr lang="en-IN" dirty="0"/>
              <a:t> </a:t>
            </a:r>
            <a:r>
              <a:rPr lang="en-IN" sz="1200" dirty="0"/>
              <a:t>INTERNSHIP_17546440516895be537820f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933062" y="2886638"/>
            <a:ext cx="11346024" cy="1084723"/>
          </a:xfrm>
        </p:spPr>
        <p:txBody>
          <a:bodyPr>
            <a:normAutofit/>
          </a:bodyPr>
          <a:lstStyle/>
          <a:p>
            <a:r>
              <a:rPr lang="en-US" sz="3200" dirty="0"/>
              <a:t>						Airbnb Market Intelligence</a:t>
            </a:r>
            <a:br>
              <a:rPr lang="en-US" sz="3200" dirty="0"/>
            </a:br>
            <a:r>
              <a:rPr lang="en-US" sz="3200" dirty="0"/>
              <a:t>					</a:t>
            </a:r>
            <a:r>
              <a:rPr lang="en-US" sz="2200" dirty="0"/>
              <a:t>Optimizing Pricing and Host Performance for Success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6764" y="2314096"/>
            <a:ext cx="6185130" cy="2640460"/>
          </a:xfrm>
        </p:spPr>
        <p:txBody>
          <a:bodyPr>
            <a:normAutofit fontScale="62500" lnSpcReduction="20000"/>
          </a:bodyPr>
          <a:lstStyle/>
          <a:p>
            <a:r>
              <a:rPr lang="en-US" sz="2800" b="1" dirty="0"/>
              <a:t>Airbnb hosts and stakeholders lack integrated, data-driven insights necessary to optimize their listings and maximize revenue and performance in a competitive market.</a:t>
            </a:r>
            <a:endParaRPr lang="en-US" sz="2800" dirty="0"/>
          </a:p>
          <a:p>
            <a:r>
              <a:rPr lang="en-US" sz="2800" b="1" dirty="0"/>
              <a:t>The challenge is to identify and quantify the complex interrelationships between booking patterns (temporal and location-based), effective pricing strategies, evolving guest preferences (room type and ratings), and measurable host performance metrics (responsiveness and activity levels).</a:t>
            </a:r>
            <a:endParaRPr lang="en-US" sz="2800" dirty="0"/>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444735"/>
            <a:ext cx="8287658" cy="1667399"/>
          </a:xfrm>
        </p:spPr>
        <p:txBody>
          <a:bodyPr>
            <a:normAutofit fontScale="90000"/>
          </a:bodyPr>
          <a:lstStyle/>
          <a:p>
            <a:r>
              <a:rPr lang="en-US" sz="2700" dirty="0"/>
              <a:t>Project Overview:</a:t>
            </a:r>
            <a:br>
              <a:rPr lang="en-US" sz="1800" dirty="0"/>
            </a:br>
            <a:r>
              <a:rPr lang="en-US" sz="1300" b="0" dirty="0"/>
              <a:t>This project is a comprehensive Jupyter Notebook-based data analysis application designed to extract actionable insights from over 100,000 Airbnb listings. The core objective is to move beyond simple descriptive statistics to understand the underlying drivers of success for Airbnb hosts. By systematically analyzing the relationships between booking patterns, pricing, guest behavior, and host performance, this project provides a data-driven framework for strategic decision-making in the competitive short-term rental market.</a:t>
            </a:r>
            <a:br>
              <a:rPr lang="en-US" sz="1300" b="0" dirty="0"/>
            </a:br>
            <a:br>
              <a:rPr lang="en-US" sz="1300" dirty="0"/>
            </a:br>
            <a:br>
              <a:rPr lang="en-US" sz="1300" dirty="0"/>
            </a:br>
            <a:br>
              <a:rPr lang="en-US" sz="1300" dirty="0"/>
            </a:br>
            <a:r>
              <a:rPr lang="en-US" sz="2700" b="0" dirty="0"/>
              <a:t>Analysis Modules and Key Visualizations:</a:t>
            </a:r>
            <a:endParaRPr lang="en-IN"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graphicFrame>
        <p:nvGraphicFramePr>
          <p:cNvPr id="12" name="Table 11">
            <a:extLst>
              <a:ext uri="{FF2B5EF4-FFF2-40B4-BE49-F238E27FC236}">
                <a16:creationId xmlns:a16="http://schemas.microsoft.com/office/drawing/2014/main" id="{22332336-DBFA-549C-2D7C-D2A389F18367}"/>
              </a:ext>
            </a:extLst>
          </p:cNvPr>
          <p:cNvGraphicFramePr>
            <a:graphicFrameLocks noGrp="1"/>
          </p:cNvGraphicFramePr>
          <p:nvPr>
            <p:extLst>
              <p:ext uri="{D42A27DB-BD31-4B8C-83A1-F6EECF244321}">
                <p14:modId xmlns:p14="http://schemas.microsoft.com/office/powerpoint/2010/main" val="1156247819"/>
              </p:ext>
            </p:extLst>
          </p:nvPr>
        </p:nvGraphicFramePr>
        <p:xfrm>
          <a:off x="660399" y="2976563"/>
          <a:ext cx="8516154" cy="3881437"/>
        </p:xfrm>
        <a:graphic>
          <a:graphicData uri="http://schemas.openxmlformats.org/drawingml/2006/table">
            <a:tbl>
              <a:tblPr/>
              <a:tblGrid>
                <a:gridCol w="2838718">
                  <a:extLst>
                    <a:ext uri="{9D8B030D-6E8A-4147-A177-3AD203B41FA5}">
                      <a16:colId xmlns:a16="http://schemas.microsoft.com/office/drawing/2014/main" val="4282627000"/>
                    </a:ext>
                  </a:extLst>
                </a:gridCol>
                <a:gridCol w="2838718">
                  <a:extLst>
                    <a:ext uri="{9D8B030D-6E8A-4147-A177-3AD203B41FA5}">
                      <a16:colId xmlns:a16="http://schemas.microsoft.com/office/drawing/2014/main" val="269630384"/>
                    </a:ext>
                  </a:extLst>
                </a:gridCol>
                <a:gridCol w="2838718">
                  <a:extLst>
                    <a:ext uri="{9D8B030D-6E8A-4147-A177-3AD203B41FA5}">
                      <a16:colId xmlns:a16="http://schemas.microsoft.com/office/drawing/2014/main" val="3656451983"/>
                    </a:ext>
                  </a:extLst>
                </a:gridCol>
              </a:tblGrid>
              <a:tr h="339626">
                <a:tc>
                  <a:txBody>
                    <a:bodyPr/>
                    <a:lstStyle/>
                    <a:p>
                      <a:pPr algn="l">
                        <a:buNone/>
                      </a:pPr>
                      <a:r>
                        <a:rPr lang="en-IN" sz="1000"/>
                        <a:t>Module</a:t>
                      </a:r>
                    </a:p>
                  </a:txBody>
                  <a:tcPr marL="48518" marR="48518" marT="24259" marB="24259" anchor="ctr">
                    <a:lnL>
                      <a:noFill/>
                    </a:lnL>
                    <a:lnR>
                      <a:noFill/>
                    </a:lnR>
                    <a:lnT>
                      <a:noFill/>
                    </a:lnT>
                    <a:lnB>
                      <a:noFill/>
                    </a:lnB>
                    <a:noFill/>
                  </a:tcPr>
                </a:tc>
                <a:tc>
                  <a:txBody>
                    <a:bodyPr/>
                    <a:lstStyle/>
                    <a:p>
                      <a:pPr algn="l">
                        <a:buNone/>
                      </a:pPr>
                      <a:r>
                        <a:rPr lang="en-IN" sz="1000" dirty="0"/>
                        <a:t>Purpose</a:t>
                      </a:r>
                    </a:p>
                  </a:txBody>
                  <a:tcPr marL="48518" marR="48518" marT="24259" marB="24259" anchor="ctr">
                    <a:lnL>
                      <a:noFill/>
                    </a:lnL>
                    <a:lnR>
                      <a:noFill/>
                    </a:lnR>
                    <a:lnT>
                      <a:noFill/>
                    </a:lnT>
                    <a:lnB>
                      <a:noFill/>
                    </a:lnB>
                    <a:noFill/>
                  </a:tcPr>
                </a:tc>
                <a:tc>
                  <a:txBody>
                    <a:bodyPr/>
                    <a:lstStyle/>
                    <a:p>
                      <a:pPr algn="l">
                        <a:buNone/>
                      </a:pPr>
                      <a:r>
                        <a:rPr lang="en-IN" sz="1000" dirty="0"/>
                        <a:t>Key Visualization &amp; Techniques</a:t>
                      </a:r>
                    </a:p>
                  </a:txBody>
                  <a:tcPr marL="48518" marR="48518" marT="24259" marB="24259" anchor="ctr">
                    <a:lnL>
                      <a:noFill/>
                    </a:lnL>
                    <a:lnR>
                      <a:noFill/>
                    </a:lnR>
                    <a:lnT>
                      <a:noFill/>
                    </a:lnT>
                    <a:lnB>
                      <a:noFill/>
                    </a:lnB>
                    <a:noFill/>
                  </a:tcPr>
                </a:tc>
                <a:extLst>
                  <a:ext uri="{0D108BD9-81ED-4DB2-BD59-A6C34878D82A}">
                    <a16:rowId xmlns:a16="http://schemas.microsoft.com/office/drawing/2014/main" val="1880730989"/>
                  </a:ext>
                </a:extLst>
              </a:tr>
              <a:tr h="776287">
                <a:tc>
                  <a:txBody>
                    <a:bodyPr/>
                    <a:lstStyle/>
                    <a:p>
                      <a:pPr algn="l">
                        <a:buNone/>
                      </a:pPr>
                      <a:r>
                        <a:rPr lang="en-IN" sz="1000" b="1"/>
                        <a:t>1. Pricing Strategies</a:t>
                      </a:r>
                      <a:endParaRPr lang="en-IN" sz="1000"/>
                    </a:p>
                  </a:txBody>
                  <a:tcPr marL="48518" marR="48518" marT="24259" marB="24259" anchor="ctr">
                    <a:lnL>
                      <a:noFill/>
                    </a:lnL>
                    <a:lnR>
                      <a:noFill/>
                    </a:lnR>
                    <a:lnT>
                      <a:noFill/>
                    </a:lnT>
                    <a:lnB>
                      <a:noFill/>
                    </a:lnB>
                    <a:noFill/>
                  </a:tcPr>
                </a:tc>
                <a:tc>
                  <a:txBody>
                    <a:bodyPr/>
                    <a:lstStyle/>
                    <a:p>
                      <a:pPr algn="l">
                        <a:buNone/>
                      </a:pPr>
                      <a:r>
                        <a:rPr lang="en-US" sz="1000"/>
                        <a:t>Determines optimal pricing by location and seasonality.</a:t>
                      </a:r>
                    </a:p>
                  </a:txBody>
                  <a:tcPr marL="48518" marR="48518" marT="24259" marB="24259" anchor="ctr">
                    <a:lnL>
                      <a:noFill/>
                    </a:lnL>
                    <a:lnR>
                      <a:noFill/>
                    </a:lnR>
                    <a:lnT>
                      <a:noFill/>
                    </a:lnT>
                    <a:lnB>
                      <a:noFill/>
                    </a:lnB>
                    <a:noFill/>
                  </a:tcPr>
                </a:tc>
                <a:tc>
                  <a:txBody>
                    <a:bodyPr/>
                    <a:lstStyle/>
                    <a:p>
                      <a:pPr algn="l">
                        <a:buNone/>
                      </a:pPr>
                      <a:r>
                        <a:rPr lang="en-US" sz="1000"/>
                        <a:t>Custom Box Plots (capped at the </a:t>
                      </a:r>
                      <a:r>
                        <a:rPr lang="en-US" sz="1000" b="1"/>
                        <a:t>99th percentile</a:t>
                      </a:r>
                      <a:r>
                        <a:rPr lang="en-US" sz="1000"/>
                        <a:t> for outlier visibility), Histograms, and Correlation Scatter Plots.</a:t>
                      </a:r>
                    </a:p>
                  </a:txBody>
                  <a:tcPr marL="48518" marR="48518" marT="24259" marB="24259" anchor="ctr">
                    <a:lnL>
                      <a:noFill/>
                    </a:lnL>
                    <a:lnR>
                      <a:noFill/>
                    </a:lnR>
                    <a:lnT>
                      <a:noFill/>
                    </a:lnT>
                    <a:lnB>
                      <a:noFill/>
                    </a:lnB>
                    <a:noFill/>
                  </a:tcPr>
                </a:tc>
                <a:extLst>
                  <a:ext uri="{0D108BD9-81ED-4DB2-BD59-A6C34878D82A}">
                    <a16:rowId xmlns:a16="http://schemas.microsoft.com/office/drawing/2014/main" val="4123282676"/>
                  </a:ext>
                </a:extLst>
              </a:tr>
              <a:tr h="630734">
                <a:tc>
                  <a:txBody>
                    <a:bodyPr/>
                    <a:lstStyle/>
                    <a:p>
                      <a:pPr algn="l">
                        <a:buNone/>
                      </a:pPr>
                      <a:r>
                        <a:rPr lang="en-IN" sz="1000" b="1"/>
                        <a:t>2. Booking Patterns</a:t>
                      </a:r>
                      <a:endParaRPr lang="en-IN" sz="1000"/>
                    </a:p>
                  </a:txBody>
                  <a:tcPr marL="48518" marR="48518" marT="24259" marB="24259" anchor="ctr">
                    <a:lnL>
                      <a:noFill/>
                    </a:lnL>
                    <a:lnR>
                      <a:noFill/>
                    </a:lnR>
                    <a:lnT>
                      <a:noFill/>
                    </a:lnT>
                    <a:lnB>
                      <a:noFill/>
                    </a:lnB>
                    <a:noFill/>
                  </a:tcPr>
                </a:tc>
                <a:tc>
                  <a:txBody>
                    <a:bodyPr/>
                    <a:lstStyle/>
                    <a:p>
                      <a:pPr algn="l">
                        <a:buNone/>
                      </a:pPr>
                      <a:r>
                        <a:rPr lang="en-US" sz="1000"/>
                        <a:t>Identifies peak booking times and high-demand locations.</a:t>
                      </a:r>
                    </a:p>
                  </a:txBody>
                  <a:tcPr marL="48518" marR="48518" marT="24259" marB="24259" anchor="ctr">
                    <a:lnL>
                      <a:noFill/>
                    </a:lnL>
                    <a:lnR>
                      <a:noFill/>
                    </a:lnR>
                    <a:lnT>
                      <a:noFill/>
                    </a:lnT>
                    <a:lnB>
                      <a:noFill/>
                    </a:lnB>
                    <a:noFill/>
                  </a:tcPr>
                </a:tc>
                <a:tc>
                  <a:txBody>
                    <a:bodyPr/>
                    <a:lstStyle/>
                    <a:p>
                      <a:pPr algn="l">
                        <a:buNone/>
                      </a:pPr>
                      <a:r>
                        <a:rPr lang="en-US" sz="1000"/>
                        <a:t>Time Series Plots for monthly trends and Bar Charts for top-performing neighborhoods.</a:t>
                      </a:r>
                    </a:p>
                  </a:txBody>
                  <a:tcPr marL="48518" marR="48518" marT="24259" marB="24259" anchor="ctr">
                    <a:lnL>
                      <a:noFill/>
                    </a:lnL>
                    <a:lnR>
                      <a:noFill/>
                    </a:lnR>
                    <a:lnT>
                      <a:noFill/>
                    </a:lnT>
                    <a:lnB>
                      <a:noFill/>
                    </a:lnB>
                    <a:noFill/>
                  </a:tcPr>
                </a:tc>
                <a:extLst>
                  <a:ext uri="{0D108BD9-81ED-4DB2-BD59-A6C34878D82A}">
                    <a16:rowId xmlns:a16="http://schemas.microsoft.com/office/drawing/2014/main" val="101787562"/>
                  </a:ext>
                </a:extLst>
              </a:tr>
              <a:tr h="776287">
                <a:tc>
                  <a:txBody>
                    <a:bodyPr/>
                    <a:lstStyle/>
                    <a:p>
                      <a:pPr algn="l">
                        <a:buNone/>
                      </a:pPr>
                      <a:r>
                        <a:rPr lang="en-IN" sz="1000" b="1"/>
                        <a:t>3. Guest Preferences</a:t>
                      </a:r>
                      <a:endParaRPr lang="en-IN" sz="1000"/>
                    </a:p>
                  </a:txBody>
                  <a:tcPr marL="48518" marR="48518" marT="24259" marB="24259" anchor="ctr">
                    <a:lnL>
                      <a:noFill/>
                    </a:lnL>
                    <a:lnR>
                      <a:noFill/>
                    </a:lnR>
                    <a:lnT>
                      <a:noFill/>
                    </a:lnT>
                    <a:lnB>
                      <a:noFill/>
                    </a:lnB>
                    <a:noFill/>
                  </a:tcPr>
                </a:tc>
                <a:tc>
                  <a:txBody>
                    <a:bodyPr/>
                    <a:lstStyle/>
                    <a:p>
                      <a:pPr algn="l">
                        <a:buNone/>
                      </a:pPr>
                      <a:r>
                        <a:rPr lang="en-US" sz="1000"/>
                        <a:t>Uncovers demand for specific room types and quality expectations.</a:t>
                      </a:r>
                    </a:p>
                  </a:txBody>
                  <a:tcPr marL="48518" marR="48518" marT="24259" marB="24259" anchor="ctr">
                    <a:lnL>
                      <a:noFill/>
                    </a:lnL>
                    <a:lnR>
                      <a:noFill/>
                    </a:lnR>
                    <a:lnT>
                      <a:noFill/>
                    </a:lnT>
                    <a:lnB>
                      <a:noFill/>
                    </a:lnB>
                    <a:noFill/>
                  </a:tcPr>
                </a:tc>
                <a:tc>
                  <a:txBody>
                    <a:bodyPr/>
                    <a:lstStyle/>
                    <a:p>
                      <a:pPr algn="l">
                        <a:buNone/>
                      </a:pPr>
                      <a:r>
                        <a:rPr lang="en-US" sz="1000" dirty="0"/>
                        <a:t>Proportional Pie Charts, Bar Charts for room type distribution, and segmented rating analysis.</a:t>
                      </a:r>
                    </a:p>
                  </a:txBody>
                  <a:tcPr marL="48518" marR="48518" marT="24259" marB="24259" anchor="ctr">
                    <a:lnL>
                      <a:noFill/>
                    </a:lnL>
                    <a:lnR>
                      <a:noFill/>
                    </a:lnR>
                    <a:lnT>
                      <a:noFill/>
                    </a:lnT>
                    <a:lnB>
                      <a:noFill/>
                    </a:lnB>
                    <a:noFill/>
                  </a:tcPr>
                </a:tc>
                <a:extLst>
                  <a:ext uri="{0D108BD9-81ED-4DB2-BD59-A6C34878D82A}">
                    <a16:rowId xmlns:a16="http://schemas.microsoft.com/office/drawing/2014/main" val="2394760691"/>
                  </a:ext>
                </a:extLst>
              </a:tr>
              <a:tr h="1358503">
                <a:tc>
                  <a:txBody>
                    <a:bodyPr/>
                    <a:lstStyle/>
                    <a:p>
                      <a:pPr algn="l">
                        <a:buNone/>
                      </a:pPr>
                      <a:r>
                        <a:rPr lang="en-IN" sz="1000" b="1" dirty="0"/>
                        <a:t>4. Host Performance</a:t>
                      </a:r>
                      <a:endParaRPr lang="en-IN" sz="1000" dirty="0"/>
                    </a:p>
                  </a:txBody>
                  <a:tcPr marL="48518" marR="48518" marT="24259" marB="24259" anchor="ctr">
                    <a:lnL>
                      <a:noFill/>
                    </a:lnL>
                    <a:lnR>
                      <a:noFill/>
                    </a:lnR>
                    <a:lnT>
                      <a:noFill/>
                    </a:lnT>
                    <a:lnB>
                      <a:noFill/>
                    </a:lnB>
                    <a:noFill/>
                  </a:tcPr>
                </a:tc>
                <a:tc>
                  <a:txBody>
                    <a:bodyPr/>
                    <a:lstStyle/>
                    <a:p>
                      <a:pPr algn="l">
                        <a:buNone/>
                      </a:pPr>
                      <a:r>
                        <a:rPr lang="en-US" sz="1000"/>
                        <a:t>Evaluates operational efficiency and service quality.</a:t>
                      </a:r>
                    </a:p>
                  </a:txBody>
                  <a:tcPr marL="48518" marR="48518" marT="24259" marB="24259" anchor="ctr">
                    <a:lnL>
                      <a:noFill/>
                    </a:lnL>
                    <a:lnR>
                      <a:noFill/>
                    </a:lnR>
                    <a:lnT>
                      <a:noFill/>
                    </a:lnT>
                    <a:lnB>
                      <a:noFill/>
                    </a:lnB>
                    <a:noFill/>
                  </a:tcPr>
                </a:tc>
                <a:tc>
                  <a:txBody>
                    <a:bodyPr/>
                    <a:lstStyle/>
                    <a:p>
                      <a:pPr algn="l">
                        <a:buNone/>
                      </a:pPr>
                      <a:r>
                        <a:rPr lang="en-US" sz="1000" dirty="0"/>
                        <a:t>Distribution analysis of host responsiveness, acceptance rates, and </a:t>
                      </a:r>
                      <a:r>
                        <a:rPr lang="en-US" sz="1000" b="1" dirty="0"/>
                        <a:t>Reviews Per Month</a:t>
                      </a:r>
                      <a:r>
                        <a:rPr lang="en-US" sz="1000" dirty="0"/>
                        <a:t> using a customized </a:t>
                      </a:r>
                      <a:r>
                        <a:rPr lang="en-US" sz="1000" b="1" dirty="0"/>
                        <a:t>Seaborn Boxplot</a:t>
                      </a:r>
                      <a:r>
                        <a:rPr lang="en-US" sz="1000" dirty="0"/>
                        <a:t> with a logarithmic or percentile-capped axis to handle skewed data.</a:t>
                      </a:r>
                    </a:p>
                  </a:txBody>
                  <a:tcPr marL="48518" marR="48518" marT="24259" marB="24259" anchor="ctr">
                    <a:lnL>
                      <a:noFill/>
                    </a:lnL>
                    <a:lnR>
                      <a:noFill/>
                    </a:lnR>
                    <a:lnT>
                      <a:noFill/>
                    </a:lnT>
                    <a:lnB>
                      <a:noFill/>
                    </a:lnB>
                    <a:noFill/>
                  </a:tcPr>
                </a:tc>
                <a:extLst>
                  <a:ext uri="{0D108BD9-81ED-4DB2-BD59-A6C34878D82A}">
                    <a16:rowId xmlns:a16="http://schemas.microsoft.com/office/drawing/2014/main" val="882389351"/>
                  </a:ext>
                </a:extLst>
              </a:tr>
            </a:tbl>
          </a:graphicData>
        </a:graphic>
      </p:graphicFrame>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0" y="139698"/>
            <a:ext cx="11417768" cy="6391991"/>
          </a:xfrm>
        </p:spPr>
        <p:txBody>
          <a:bodyPr>
            <a:normAutofit fontScale="62500" lnSpcReduction="20000"/>
          </a:bodyPr>
          <a:lstStyle/>
          <a:p>
            <a:pPr marL="0" indent="0" algn="just">
              <a:lnSpc>
                <a:spcPct val="150000"/>
              </a:lnSpc>
              <a:buNone/>
            </a:pPr>
            <a:r>
              <a:rPr lang="en-US" sz="2200" dirty="0"/>
              <a:t>The end users of this </a:t>
            </a:r>
            <a:r>
              <a:rPr lang="en-US" sz="2200" b="1" dirty="0"/>
              <a:t>Airbnb Market Intelligence</a:t>
            </a:r>
            <a:r>
              <a:rPr lang="en-US" sz="2200" dirty="0"/>
              <a:t> project are primarily individuals and organizations directly involved in the short-term rental ecosystem who need </a:t>
            </a:r>
            <a:r>
              <a:rPr lang="en-US" sz="2200" b="1" dirty="0"/>
              <a:t>data-driven strategies</a:t>
            </a:r>
            <a:r>
              <a:rPr lang="en-US" sz="2200" dirty="0"/>
              <a:t> to improve performance, pricing, and operational efficiency.</a:t>
            </a:r>
          </a:p>
          <a:p>
            <a:pPr marL="0" indent="0">
              <a:buNone/>
            </a:pPr>
            <a:r>
              <a:rPr lang="en-US" b="1" dirty="0"/>
              <a:t>Key End Users</a:t>
            </a:r>
          </a:p>
          <a:p>
            <a:pPr marL="0" indent="0">
              <a:buNone/>
            </a:pPr>
            <a:r>
              <a:rPr lang="en-US" b="1" dirty="0"/>
              <a:t>	1. Airbnb Hosts (The Primary Audience) </a:t>
            </a:r>
          </a:p>
          <a:p>
            <a:pPr marL="0" indent="0">
              <a:buNone/>
            </a:pPr>
            <a:r>
              <a:rPr lang="en-US" b="1" dirty="0"/>
              <a:t>	Goal:</a:t>
            </a:r>
            <a:r>
              <a:rPr lang="en-US" dirty="0"/>
              <a:t> Maximize occupancy, revenue (yield), and guest satisfaction ratings.</a:t>
            </a:r>
          </a:p>
          <a:p>
            <a:pPr marL="0" indent="0">
              <a:buNone/>
            </a:pPr>
            <a:r>
              <a:rPr lang="en-US" b="1" dirty="0"/>
              <a:t>	Use of the Project:</a:t>
            </a:r>
            <a:r>
              <a:rPr lang="en-US" dirty="0"/>
              <a:t> They use the analysis to make direct business decisions:</a:t>
            </a:r>
          </a:p>
          <a:p>
            <a:pPr lvl="1"/>
            <a:r>
              <a:rPr lang="en-US" b="1" dirty="0"/>
              <a:t>Pricing:</a:t>
            </a:r>
            <a:r>
              <a:rPr lang="en-US" dirty="0"/>
              <a:t> Determine the optimal price based on seasonality and neighborhood competition (from the </a:t>
            </a:r>
            <a:r>
              <a:rPr lang="en-US" b="1" dirty="0"/>
              <a:t>Pricing Strategies</a:t>
            </a:r>
            <a:r>
              <a:rPr lang="en-US" dirty="0"/>
              <a:t> module).</a:t>
            </a:r>
          </a:p>
          <a:p>
            <a:pPr lvl="1"/>
            <a:r>
              <a:rPr lang="en-US" b="1" dirty="0"/>
              <a:t>Operations:</a:t>
            </a:r>
            <a:r>
              <a:rPr lang="en-US" dirty="0"/>
              <a:t> Identify the required host activity level and responsiveness benchmarks for top performance (from the </a:t>
            </a:r>
            <a:r>
              <a:rPr lang="en-US" b="1" dirty="0"/>
              <a:t>Host Performance</a:t>
            </a:r>
            <a:r>
              <a:rPr lang="en-US" dirty="0"/>
              <a:t> module).</a:t>
            </a:r>
          </a:p>
          <a:p>
            <a:pPr lvl="1"/>
            <a:r>
              <a:rPr lang="en-US" b="1" dirty="0"/>
              <a:t>Listing Strategy:</a:t>
            </a:r>
            <a:r>
              <a:rPr lang="en-US" dirty="0"/>
              <a:t> Understand which </a:t>
            </a:r>
            <a:r>
              <a:rPr lang="en-US" b="1" dirty="0"/>
              <a:t>Room Types</a:t>
            </a:r>
            <a:r>
              <a:rPr lang="en-US" dirty="0"/>
              <a:t> are in highest demand and how guest preferences are changing (from the </a:t>
            </a:r>
            <a:r>
              <a:rPr lang="en-US" b="1" dirty="0"/>
              <a:t>Guest Preferences</a:t>
            </a:r>
            <a:r>
              <a:rPr lang="en-US" dirty="0"/>
              <a:t> module).</a:t>
            </a:r>
          </a:p>
          <a:p>
            <a:pPr marL="0" indent="0">
              <a:buNone/>
            </a:pPr>
            <a:r>
              <a:rPr lang="en-US" b="1" dirty="0"/>
              <a:t>	2. Property Managers and Real Estate Investors </a:t>
            </a:r>
          </a:p>
          <a:p>
            <a:pPr marL="0" indent="0">
              <a:buNone/>
            </a:pPr>
            <a:r>
              <a:rPr lang="en-US" b="1" dirty="0"/>
              <a:t>	Goal:</a:t>
            </a:r>
            <a:r>
              <a:rPr lang="en-US" dirty="0"/>
              <a:t> Evaluate potential investment properties, set portfolio-wide pricing rules, and benchmark performance across multiple markets.</a:t>
            </a:r>
          </a:p>
          <a:p>
            <a:pPr marL="0" indent="0">
              <a:buNone/>
            </a:pPr>
            <a:r>
              <a:rPr lang="en-US" b="1" dirty="0"/>
              <a:t>	Use of the Project:</a:t>
            </a:r>
            <a:r>
              <a:rPr lang="en-US" dirty="0"/>
              <a:t> They utilize the </a:t>
            </a:r>
            <a:r>
              <a:rPr lang="en-US" b="1" dirty="0"/>
              <a:t>Booking Patterns</a:t>
            </a:r>
            <a:r>
              <a:rPr lang="en-US" dirty="0"/>
              <a:t> module to:</a:t>
            </a:r>
          </a:p>
          <a:p>
            <a:pPr lvl="1"/>
            <a:r>
              <a:rPr lang="en-US" dirty="0"/>
              <a:t>Assess the profitability and seasonality risk of a specific location </a:t>
            </a:r>
            <a:r>
              <a:rPr lang="en-US" i="1" dirty="0"/>
              <a:t>before</a:t>
            </a:r>
            <a:r>
              <a:rPr lang="en-US" dirty="0"/>
              <a:t> investing.</a:t>
            </a:r>
          </a:p>
          <a:p>
            <a:pPr lvl="1"/>
            <a:r>
              <a:rPr lang="en-US" dirty="0"/>
              <a:t>Compare performance metrics (average price, reviews per month) of their managed properties against the market benchmarks.</a:t>
            </a:r>
          </a:p>
          <a:p>
            <a:pPr marL="0" indent="0">
              <a:buNone/>
            </a:pPr>
            <a:r>
              <a:rPr lang="en-US" b="1" dirty="0"/>
              <a:t>	3. Airbnb Company/Platform Stakeholders </a:t>
            </a:r>
          </a:p>
          <a:p>
            <a:pPr marL="0" indent="0">
              <a:buNone/>
            </a:pPr>
            <a:r>
              <a:rPr lang="en-US" b="1" dirty="0"/>
              <a:t>	Goal:</a:t>
            </a:r>
            <a:r>
              <a:rPr lang="en-US" dirty="0"/>
              <a:t> Understand market health, identify popular features or locations for marketing campaigns, and improve host support.</a:t>
            </a:r>
          </a:p>
          <a:p>
            <a:pPr marL="0" indent="0">
              <a:buNone/>
            </a:pPr>
            <a:r>
              <a:rPr lang="en-US" b="1" dirty="0"/>
              <a:t>	Use of the Project:</a:t>
            </a:r>
            <a:r>
              <a:rPr lang="en-US" dirty="0"/>
              <a:t> They can use the aggregated data on </a:t>
            </a:r>
            <a:r>
              <a:rPr lang="en-US" b="1" dirty="0"/>
              <a:t>Guest Preferences</a:t>
            </a:r>
            <a:r>
              <a:rPr lang="en-US" dirty="0"/>
              <a:t> and </a:t>
            </a:r>
            <a:r>
              <a:rPr lang="en-US" b="1" dirty="0"/>
              <a:t>Booking Patterns</a:t>
            </a:r>
            <a:r>
              <a:rPr lang="en-US" dirty="0"/>
              <a:t> to:</a:t>
            </a:r>
          </a:p>
          <a:p>
            <a:pPr lvl="1"/>
            <a:r>
              <a:rPr lang="en-US" dirty="0"/>
              <a:t>Tailor marketing efforts to high-demand periods or emerging locations.</a:t>
            </a:r>
          </a:p>
          <a:p>
            <a:pPr lvl="1"/>
            <a:r>
              <a:rPr lang="en-US" dirty="0"/>
              <a:t>Develop educational materials for hosts based on the </a:t>
            </a:r>
            <a:r>
              <a:rPr lang="en-US" b="1" dirty="0"/>
              <a:t>Host Performance</a:t>
            </a:r>
            <a:r>
              <a:rPr lang="en-US" dirty="0"/>
              <a:t> analysis (e.g., best practices for response rate).</a:t>
            </a:r>
          </a:p>
          <a:p>
            <a:pPr marL="0" indent="0">
              <a:buNone/>
            </a:pPr>
            <a:r>
              <a:rPr lang="en-US" b="1" dirty="0"/>
              <a:t>	4. Data Analysts and Scientists (Academic/Portfolio) </a:t>
            </a:r>
          </a:p>
          <a:p>
            <a:pPr marL="0" indent="0">
              <a:buNone/>
            </a:pPr>
            <a:r>
              <a:rPr lang="en-US" b="1" dirty="0"/>
              <a:t>	Goal:</a:t>
            </a:r>
            <a:r>
              <a:rPr lang="en-US" dirty="0"/>
              <a:t> Demonstrate technical skills in data cleaning, feature engineering, statistical analysis, and data visualization.</a:t>
            </a:r>
          </a:p>
          <a:p>
            <a:pPr marL="0" indent="0">
              <a:buNone/>
            </a:pPr>
            <a:r>
              <a:rPr lang="en-US" b="1" dirty="0"/>
              <a:t>	Use of the Project:</a:t>
            </a:r>
            <a:r>
              <a:rPr lang="en-US" dirty="0"/>
              <a:t> While not using the insights for business gain, they serve as the </a:t>
            </a:r>
            <a:r>
              <a:rPr lang="en-US" b="1" dirty="0"/>
              <a:t>technical audience</a:t>
            </a:r>
            <a:r>
              <a:rPr lang="en-US" dirty="0"/>
              <a:t> who will review the project's </a:t>
            </a:r>
            <a:r>
              <a:rPr lang="en-US" b="1" dirty="0"/>
              <a:t>code 	quality, architectural design, and methodology</a:t>
            </a:r>
            <a:r>
              <a:rPr lang="en-US" dirty="0"/>
              <a:t> (e.g., robust column detection, percentile-based visualization)</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2">
                                            <p:txEl>
                                              <p:pRg st="5" end="5"/>
                                            </p:txEl>
                                          </p:spTgt>
                                        </p:tgtEl>
                                        <p:attrNameLst>
                                          <p:attrName>style.visibility</p:attrName>
                                        </p:attrNameLst>
                                      </p:cBhvr>
                                      <p:to>
                                        <p:strVal val="visible"/>
                                      </p:to>
                                    </p:set>
                                    <p:animEffect transition="in" filter="fade">
                                      <p:cBhvr>
                                        <p:cTn id="40" dur="1000"/>
                                        <p:tgtEl>
                                          <p:spTgt spid="2">
                                            <p:txEl>
                                              <p:pRg st="5" end="5"/>
                                            </p:txEl>
                                          </p:spTgt>
                                        </p:tgtEl>
                                      </p:cBhvr>
                                    </p:animEffect>
                                    <p:anim calcmode="lin" valueType="num">
                                      <p:cBhvr>
                                        <p:cTn id="41"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2">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2">
                                            <p:txEl>
                                              <p:pRg st="6" end="6"/>
                                            </p:txEl>
                                          </p:spTgt>
                                        </p:tgtEl>
                                        <p:attrNameLst>
                                          <p:attrName>style.visibility</p:attrName>
                                        </p:attrNameLst>
                                      </p:cBhvr>
                                      <p:to>
                                        <p:strVal val="visible"/>
                                      </p:to>
                                    </p:set>
                                    <p:animEffect transition="in" filter="fade">
                                      <p:cBhvr>
                                        <p:cTn id="45" dur="1000"/>
                                        <p:tgtEl>
                                          <p:spTgt spid="2">
                                            <p:txEl>
                                              <p:pRg st="6" end="6"/>
                                            </p:txEl>
                                          </p:spTgt>
                                        </p:tgtEl>
                                      </p:cBhvr>
                                    </p:animEffect>
                                    <p:anim calcmode="lin" valueType="num">
                                      <p:cBhvr>
                                        <p:cTn id="46"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2">
                                            <p:txEl>
                                              <p:pRg st="6" end="6"/>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2">
                                            <p:txEl>
                                              <p:pRg st="7" end="7"/>
                                            </p:txEl>
                                          </p:spTgt>
                                        </p:tgtEl>
                                        <p:attrNameLst>
                                          <p:attrName>style.visibility</p:attrName>
                                        </p:attrNameLst>
                                      </p:cBhvr>
                                      <p:to>
                                        <p:strVal val="visible"/>
                                      </p:to>
                                    </p:set>
                                    <p:animEffect transition="in" filter="fade">
                                      <p:cBhvr>
                                        <p:cTn id="50" dur="1000"/>
                                        <p:tgtEl>
                                          <p:spTgt spid="2">
                                            <p:txEl>
                                              <p:pRg st="7" end="7"/>
                                            </p:txEl>
                                          </p:spTgt>
                                        </p:tgtEl>
                                      </p:cBhvr>
                                    </p:animEffect>
                                    <p:anim calcmode="lin" valueType="num">
                                      <p:cBhvr>
                                        <p:cTn id="51"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2">
                                            <p:txEl>
                                              <p:pRg st="8" end="8"/>
                                            </p:txEl>
                                          </p:spTgt>
                                        </p:tgtEl>
                                        <p:attrNameLst>
                                          <p:attrName>style.visibility</p:attrName>
                                        </p:attrNameLst>
                                      </p:cBhvr>
                                      <p:to>
                                        <p:strVal val="visible"/>
                                      </p:to>
                                    </p:set>
                                    <p:animEffect transition="in" filter="fade">
                                      <p:cBhvr>
                                        <p:cTn id="57" dur="1000"/>
                                        <p:tgtEl>
                                          <p:spTgt spid="2">
                                            <p:txEl>
                                              <p:pRg st="8" end="8"/>
                                            </p:txEl>
                                          </p:spTgt>
                                        </p:tgtEl>
                                      </p:cBhvr>
                                    </p:animEffect>
                                    <p:anim calcmode="lin" valueType="num">
                                      <p:cBhvr>
                                        <p:cTn id="58"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59"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2">
                                            <p:txEl>
                                              <p:pRg st="9" end="9"/>
                                            </p:txEl>
                                          </p:spTgt>
                                        </p:tgtEl>
                                        <p:attrNameLst>
                                          <p:attrName>style.visibility</p:attrName>
                                        </p:attrNameLst>
                                      </p:cBhvr>
                                      <p:to>
                                        <p:strVal val="visible"/>
                                      </p:to>
                                    </p:set>
                                    <p:animEffect transition="in" filter="fade">
                                      <p:cBhvr>
                                        <p:cTn id="64" dur="1000"/>
                                        <p:tgtEl>
                                          <p:spTgt spid="2">
                                            <p:txEl>
                                              <p:pRg st="9" end="9"/>
                                            </p:txEl>
                                          </p:spTgt>
                                        </p:tgtEl>
                                      </p:cBhvr>
                                    </p:animEffect>
                                    <p:anim calcmode="lin" valueType="num">
                                      <p:cBhvr>
                                        <p:cTn id="65"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66"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2">
                                            <p:txEl>
                                              <p:pRg st="10" end="10"/>
                                            </p:txEl>
                                          </p:spTgt>
                                        </p:tgtEl>
                                        <p:attrNameLst>
                                          <p:attrName>style.visibility</p:attrName>
                                        </p:attrNameLst>
                                      </p:cBhvr>
                                      <p:to>
                                        <p:strVal val="visible"/>
                                      </p:to>
                                    </p:set>
                                    <p:animEffect transition="in" filter="fade">
                                      <p:cBhvr>
                                        <p:cTn id="71" dur="1000"/>
                                        <p:tgtEl>
                                          <p:spTgt spid="2">
                                            <p:txEl>
                                              <p:pRg st="10" end="10"/>
                                            </p:txEl>
                                          </p:spTgt>
                                        </p:tgtEl>
                                      </p:cBhvr>
                                    </p:animEffect>
                                    <p:anim calcmode="lin" valueType="num">
                                      <p:cBhvr>
                                        <p:cTn id="72"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73" dur="1000" fill="hold"/>
                                        <p:tgtEl>
                                          <p:spTgt spid="2">
                                            <p:txEl>
                                              <p:pRg st="10" end="10"/>
                                            </p:txEl>
                                          </p:spTgt>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
                                            <p:txEl>
                                              <p:pRg st="11" end="11"/>
                                            </p:txEl>
                                          </p:spTgt>
                                        </p:tgtEl>
                                        <p:attrNameLst>
                                          <p:attrName>style.visibility</p:attrName>
                                        </p:attrNameLst>
                                      </p:cBhvr>
                                      <p:to>
                                        <p:strVal val="visible"/>
                                      </p:to>
                                    </p:set>
                                    <p:animEffect transition="in" filter="fade">
                                      <p:cBhvr>
                                        <p:cTn id="76" dur="1000"/>
                                        <p:tgtEl>
                                          <p:spTgt spid="2">
                                            <p:txEl>
                                              <p:pRg st="11" end="11"/>
                                            </p:txEl>
                                          </p:spTgt>
                                        </p:tgtEl>
                                      </p:cBhvr>
                                    </p:animEffect>
                                    <p:anim calcmode="lin" valueType="num">
                                      <p:cBhvr>
                                        <p:cTn id="77"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78" dur="1000" fill="hold"/>
                                        <p:tgtEl>
                                          <p:spTgt spid="2">
                                            <p:txEl>
                                              <p:pRg st="11" end="11"/>
                                            </p:txEl>
                                          </p:spTgt>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
                                            <p:txEl>
                                              <p:pRg st="12" end="12"/>
                                            </p:txEl>
                                          </p:spTgt>
                                        </p:tgtEl>
                                        <p:attrNameLst>
                                          <p:attrName>style.visibility</p:attrName>
                                        </p:attrNameLst>
                                      </p:cBhvr>
                                      <p:to>
                                        <p:strVal val="visible"/>
                                      </p:to>
                                    </p:set>
                                    <p:animEffect transition="in" filter="fade">
                                      <p:cBhvr>
                                        <p:cTn id="81" dur="1000"/>
                                        <p:tgtEl>
                                          <p:spTgt spid="2">
                                            <p:txEl>
                                              <p:pRg st="12" end="12"/>
                                            </p:txEl>
                                          </p:spTgt>
                                        </p:tgtEl>
                                      </p:cBhvr>
                                    </p:animEffect>
                                    <p:anim calcmode="lin" valueType="num">
                                      <p:cBhvr>
                                        <p:cTn id="82"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83"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2">
                                            <p:txEl>
                                              <p:pRg st="13" end="13"/>
                                            </p:txEl>
                                          </p:spTgt>
                                        </p:tgtEl>
                                        <p:attrNameLst>
                                          <p:attrName>style.visibility</p:attrName>
                                        </p:attrNameLst>
                                      </p:cBhvr>
                                      <p:to>
                                        <p:strVal val="visible"/>
                                      </p:to>
                                    </p:set>
                                    <p:animEffect transition="in" filter="fade">
                                      <p:cBhvr>
                                        <p:cTn id="88" dur="1000"/>
                                        <p:tgtEl>
                                          <p:spTgt spid="2">
                                            <p:txEl>
                                              <p:pRg st="13" end="13"/>
                                            </p:txEl>
                                          </p:spTgt>
                                        </p:tgtEl>
                                      </p:cBhvr>
                                    </p:animEffect>
                                    <p:anim calcmode="lin" valueType="num">
                                      <p:cBhvr>
                                        <p:cTn id="89"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90"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2">
                                            <p:txEl>
                                              <p:pRg st="14" end="14"/>
                                            </p:txEl>
                                          </p:spTgt>
                                        </p:tgtEl>
                                        <p:attrNameLst>
                                          <p:attrName>style.visibility</p:attrName>
                                        </p:attrNameLst>
                                      </p:cBhvr>
                                      <p:to>
                                        <p:strVal val="visible"/>
                                      </p:to>
                                    </p:set>
                                    <p:animEffect transition="in" filter="fade">
                                      <p:cBhvr>
                                        <p:cTn id="95" dur="1000"/>
                                        <p:tgtEl>
                                          <p:spTgt spid="2">
                                            <p:txEl>
                                              <p:pRg st="14" end="14"/>
                                            </p:txEl>
                                          </p:spTgt>
                                        </p:tgtEl>
                                      </p:cBhvr>
                                    </p:animEffect>
                                    <p:anim calcmode="lin" valueType="num">
                                      <p:cBhvr>
                                        <p:cTn id="96" dur="1000" fill="hold"/>
                                        <p:tgtEl>
                                          <p:spTgt spid="2">
                                            <p:txEl>
                                              <p:pRg st="14" end="14"/>
                                            </p:txEl>
                                          </p:spTgt>
                                        </p:tgtEl>
                                        <p:attrNameLst>
                                          <p:attrName>ppt_x</p:attrName>
                                        </p:attrNameLst>
                                      </p:cBhvr>
                                      <p:tavLst>
                                        <p:tav tm="0">
                                          <p:val>
                                            <p:strVal val="#ppt_x"/>
                                          </p:val>
                                        </p:tav>
                                        <p:tav tm="100000">
                                          <p:val>
                                            <p:strVal val="#ppt_x"/>
                                          </p:val>
                                        </p:tav>
                                      </p:tavLst>
                                    </p:anim>
                                    <p:anim calcmode="lin" valueType="num">
                                      <p:cBhvr>
                                        <p:cTn id="97" dur="1000" fill="hold"/>
                                        <p:tgtEl>
                                          <p:spTgt spid="2">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grpId="0" nodeType="clickEffect">
                                  <p:stCondLst>
                                    <p:cond delay="0"/>
                                  </p:stCondLst>
                                  <p:childTnLst>
                                    <p:set>
                                      <p:cBhvr>
                                        <p:cTn id="101" dur="1" fill="hold">
                                          <p:stCondLst>
                                            <p:cond delay="0"/>
                                          </p:stCondLst>
                                        </p:cTn>
                                        <p:tgtEl>
                                          <p:spTgt spid="2">
                                            <p:txEl>
                                              <p:pRg st="15" end="15"/>
                                            </p:txEl>
                                          </p:spTgt>
                                        </p:tgtEl>
                                        <p:attrNameLst>
                                          <p:attrName>style.visibility</p:attrName>
                                        </p:attrNameLst>
                                      </p:cBhvr>
                                      <p:to>
                                        <p:strVal val="visible"/>
                                      </p:to>
                                    </p:set>
                                    <p:animEffect transition="in" filter="fade">
                                      <p:cBhvr>
                                        <p:cTn id="102" dur="1000"/>
                                        <p:tgtEl>
                                          <p:spTgt spid="2">
                                            <p:txEl>
                                              <p:pRg st="15" end="15"/>
                                            </p:txEl>
                                          </p:spTgt>
                                        </p:tgtEl>
                                      </p:cBhvr>
                                    </p:animEffect>
                                    <p:anim calcmode="lin" valueType="num">
                                      <p:cBhvr>
                                        <p:cTn id="103" dur="1000" fill="hold"/>
                                        <p:tgtEl>
                                          <p:spTgt spid="2">
                                            <p:txEl>
                                              <p:pRg st="15" end="15"/>
                                            </p:txEl>
                                          </p:spTgt>
                                        </p:tgtEl>
                                        <p:attrNameLst>
                                          <p:attrName>ppt_x</p:attrName>
                                        </p:attrNameLst>
                                      </p:cBhvr>
                                      <p:tavLst>
                                        <p:tav tm="0">
                                          <p:val>
                                            <p:strVal val="#ppt_x"/>
                                          </p:val>
                                        </p:tav>
                                        <p:tav tm="100000">
                                          <p:val>
                                            <p:strVal val="#ppt_x"/>
                                          </p:val>
                                        </p:tav>
                                      </p:tavLst>
                                    </p:anim>
                                    <p:anim calcmode="lin" valueType="num">
                                      <p:cBhvr>
                                        <p:cTn id="104" dur="1000" fill="hold"/>
                                        <p:tgtEl>
                                          <p:spTgt spid="2">
                                            <p:txEl>
                                              <p:pRg st="15" end="15"/>
                                            </p:txEl>
                                          </p:spTgt>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
                                            <p:txEl>
                                              <p:pRg st="16" end="16"/>
                                            </p:txEl>
                                          </p:spTgt>
                                        </p:tgtEl>
                                        <p:attrNameLst>
                                          <p:attrName>style.visibility</p:attrName>
                                        </p:attrNameLst>
                                      </p:cBhvr>
                                      <p:to>
                                        <p:strVal val="visible"/>
                                      </p:to>
                                    </p:set>
                                    <p:animEffect transition="in" filter="fade">
                                      <p:cBhvr>
                                        <p:cTn id="107" dur="1000"/>
                                        <p:tgtEl>
                                          <p:spTgt spid="2">
                                            <p:txEl>
                                              <p:pRg st="16" end="16"/>
                                            </p:txEl>
                                          </p:spTgt>
                                        </p:tgtEl>
                                      </p:cBhvr>
                                    </p:animEffect>
                                    <p:anim calcmode="lin" valueType="num">
                                      <p:cBhvr>
                                        <p:cTn id="108" dur="1000" fill="hold"/>
                                        <p:tgtEl>
                                          <p:spTgt spid="2">
                                            <p:txEl>
                                              <p:pRg st="16" end="16"/>
                                            </p:txEl>
                                          </p:spTgt>
                                        </p:tgtEl>
                                        <p:attrNameLst>
                                          <p:attrName>ppt_x</p:attrName>
                                        </p:attrNameLst>
                                      </p:cBhvr>
                                      <p:tavLst>
                                        <p:tav tm="0">
                                          <p:val>
                                            <p:strVal val="#ppt_x"/>
                                          </p:val>
                                        </p:tav>
                                        <p:tav tm="100000">
                                          <p:val>
                                            <p:strVal val="#ppt_x"/>
                                          </p:val>
                                        </p:tav>
                                      </p:tavLst>
                                    </p:anim>
                                    <p:anim calcmode="lin" valueType="num">
                                      <p:cBhvr>
                                        <p:cTn id="109" dur="1000" fill="hold"/>
                                        <p:tgtEl>
                                          <p:spTgt spid="2">
                                            <p:txEl>
                                              <p:pRg st="16" end="16"/>
                                            </p:txEl>
                                          </p:spTgt>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
                                            <p:txEl>
                                              <p:pRg st="17" end="17"/>
                                            </p:txEl>
                                          </p:spTgt>
                                        </p:tgtEl>
                                        <p:attrNameLst>
                                          <p:attrName>style.visibility</p:attrName>
                                        </p:attrNameLst>
                                      </p:cBhvr>
                                      <p:to>
                                        <p:strVal val="visible"/>
                                      </p:to>
                                    </p:set>
                                    <p:animEffect transition="in" filter="fade">
                                      <p:cBhvr>
                                        <p:cTn id="112" dur="1000"/>
                                        <p:tgtEl>
                                          <p:spTgt spid="2">
                                            <p:txEl>
                                              <p:pRg st="17" end="17"/>
                                            </p:txEl>
                                          </p:spTgt>
                                        </p:tgtEl>
                                      </p:cBhvr>
                                    </p:animEffect>
                                    <p:anim calcmode="lin" valueType="num">
                                      <p:cBhvr>
                                        <p:cTn id="113" dur="1000" fill="hold"/>
                                        <p:tgtEl>
                                          <p:spTgt spid="2">
                                            <p:txEl>
                                              <p:pRg st="17" end="17"/>
                                            </p:txEl>
                                          </p:spTgt>
                                        </p:tgtEl>
                                        <p:attrNameLst>
                                          <p:attrName>ppt_x</p:attrName>
                                        </p:attrNameLst>
                                      </p:cBhvr>
                                      <p:tavLst>
                                        <p:tav tm="0">
                                          <p:val>
                                            <p:strVal val="#ppt_x"/>
                                          </p:val>
                                        </p:tav>
                                        <p:tav tm="100000">
                                          <p:val>
                                            <p:strVal val="#ppt_x"/>
                                          </p:val>
                                        </p:tav>
                                      </p:tavLst>
                                    </p:anim>
                                    <p:anim calcmode="lin" valueType="num">
                                      <p:cBhvr>
                                        <p:cTn id="114" dur="1000" fill="hold"/>
                                        <p:tgtEl>
                                          <p:spTgt spid="2">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2">
                                            <p:txEl>
                                              <p:pRg st="18" end="18"/>
                                            </p:txEl>
                                          </p:spTgt>
                                        </p:tgtEl>
                                        <p:attrNameLst>
                                          <p:attrName>style.visibility</p:attrName>
                                        </p:attrNameLst>
                                      </p:cBhvr>
                                      <p:to>
                                        <p:strVal val="visible"/>
                                      </p:to>
                                    </p:set>
                                    <p:animEffect transition="in" filter="fade">
                                      <p:cBhvr>
                                        <p:cTn id="119" dur="1000"/>
                                        <p:tgtEl>
                                          <p:spTgt spid="2">
                                            <p:txEl>
                                              <p:pRg st="18" end="18"/>
                                            </p:txEl>
                                          </p:spTgt>
                                        </p:tgtEl>
                                      </p:cBhvr>
                                    </p:animEffect>
                                    <p:anim calcmode="lin" valueType="num">
                                      <p:cBhvr>
                                        <p:cTn id="120" dur="1000" fill="hold"/>
                                        <p:tgtEl>
                                          <p:spTgt spid="2">
                                            <p:txEl>
                                              <p:pRg st="18" end="18"/>
                                            </p:txEl>
                                          </p:spTgt>
                                        </p:tgtEl>
                                        <p:attrNameLst>
                                          <p:attrName>ppt_x</p:attrName>
                                        </p:attrNameLst>
                                      </p:cBhvr>
                                      <p:tavLst>
                                        <p:tav tm="0">
                                          <p:val>
                                            <p:strVal val="#ppt_x"/>
                                          </p:val>
                                        </p:tav>
                                        <p:tav tm="100000">
                                          <p:val>
                                            <p:strVal val="#ppt_x"/>
                                          </p:val>
                                        </p:tav>
                                      </p:tavLst>
                                    </p:anim>
                                    <p:anim calcmode="lin" valueType="num">
                                      <p:cBhvr>
                                        <p:cTn id="121" dur="1000" fill="hold"/>
                                        <p:tgtEl>
                                          <p:spTgt spid="2">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2">
                                            <p:txEl>
                                              <p:pRg st="19" end="19"/>
                                            </p:txEl>
                                          </p:spTgt>
                                        </p:tgtEl>
                                        <p:attrNameLst>
                                          <p:attrName>style.visibility</p:attrName>
                                        </p:attrNameLst>
                                      </p:cBhvr>
                                      <p:to>
                                        <p:strVal val="visible"/>
                                      </p:to>
                                    </p:set>
                                    <p:animEffect transition="in" filter="fade">
                                      <p:cBhvr>
                                        <p:cTn id="126" dur="1000"/>
                                        <p:tgtEl>
                                          <p:spTgt spid="2">
                                            <p:txEl>
                                              <p:pRg st="19" end="19"/>
                                            </p:txEl>
                                          </p:spTgt>
                                        </p:tgtEl>
                                      </p:cBhvr>
                                    </p:animEffect>
                                    <p:anim calcmode="lin" valueType="num">
                                      <p:cBhvr>
                                        <p:cTn id="127" dur="1000" fill="hold"/>
                                        <p:tgtEl>
                                          <p:spTgt spid="2">
                                            <p:txEl>
                                              <p:pRg st="19" end="19"/>
                                            </p:txEl>
                                          </p:spTgt>
                                        </p:tgtEl>
                                        <p:attrNameLst>
                                          <p:attrName>ppt_x</p:attrName>
                                        </p:attrNameLst>
                                      </p:cBhvr>
                                      <p:tavLst>
                                        <p:tav tm="0">
                                          <p:val>
                                            <p:strVal val="#ppt_x"/>
                                          </p:val>
                                        </p:tav>
                                        <p:tav tm="100000">
                                          <p:val>
                                            <p:strVal val="#ppt_x"/>
                                          </p:val>
                                        </p:tav>
                                      </p:tavLst>
                                    </p:anim>
                                    <p:anim calcmode="lin" valueType="num">
                                      <p:cBhvr>
                                        <p:cTn id="128" dur="1000" fill="hold"/>
                                        <p:tgtEl>
                                          <p:spTgt spid="2">
                                            <p:txEl>
                                              <p:pRg st="19" end="19"/>
                                            </p:txEl>
                                          </p:spTgt>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2">
                                            <p:txEl>
                                              <p:pRg st="20" end="20"/>
                                            </p:txEl>
                                          </p:spTgt>
                                        </p:tgtEl>
                                        <p:attrNameLst>
                                          <p:attrName>style.visibility</p:attrName>
                                        </p:attrNameLst>
                                      </p:cBhvr>
                                      <p:to>
                                        <p:strVal val="visible"/>
                                      </p:to>
                                    </p:set>
                                    <p:animEffect transition="in" filter="fade">
                                      <p:cBhvr>
                                        <p:cTn id="133" dur="1000"/>
                                        <p:tgtEl>
                                          <p:spTgt spid="2">
                                            <p:txEl>
                                              <p:pRg st="20" end="20"/>
                                            </p:txEl>
                                          </p:spTgt>
                                        </p:tgtEl>
                                      </p:cBhvr>
                                    </p:animEffect>
                                    <p:anim calcmode="lin" valueType="num">
                                      <p:cBhvr>
                                        <p:cTn id="134" dur="1000" fill="hold"/>
                                        <p:tgtEl>
                                          <p:spTgt spid="2">
                                            <p:txEl>
                                              <p:pRg st="20" end="20"/>
                                            </p:txEl>
                                          </p:spTgt>
                                        </p:tgtEl>
                                        <p:attrNameLst>
                                          <p:attrName>ppt_x</p:attrName>
                                        </p:attrNameLst>
                                      </p:cBhvr>
                                      <p:tavLst>
                                        <p:tav tm="0">
                                          <p:val>
                                            <p:strVal val="#ppt_x"/>
                                          </p:val>
                                        </p:tav>
                                        <p:tav tm="100000">
                                          <p:val>
                                            <p:strVal val="#ppt_x"/>
                                          </p:val>
                                        </p:tav>
                                      </p:tavLst>
                                    </p:anim>
                                    <p:anim calcmode="lin" valueType="num">
                                      <p:cBhvr>
                                        <p:cTn id="135" dur="1000" fill="hold"/>
                                        <p:tgtEl>
                                          <p:spTgt spid="2">
                                            <p:txEl>
                                              <p:pRg st="20" end="2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8" name="Text Placeholder 7">
            <a:extLst>
              <a:ext uri="{FF2B5EF4-FFF2-40B4-BE49-F238E27FC236}">
                <a16:creationId xmlns:a16="http://schemas.microsoft.com/office/drawing/2014/main" id="{5B8AAA41-9050-9B50-7380-4648EBD36F15}"/>
              </a:ext>
            </a:extLst>
          </p:cNvPr>
          <p:cNvSpPr>
            <a:spLocks noGrp="1"/>
          </p:cNvSpPr>
          <p:nvPr>
            <p:ph type="body" sz="quarter" idx="12"/>
          </p:nvPr>
        </p:nvSpPr>
        <p:spPr>
          <a:xfrm>
            <a:off x="1611086" y="1278384"/>
            <a:ext cx="9920515" cy="4663024"/>
          </a:xfrm>
        </p:spPr>
        <p:txBody>
          <a:bodyPr>
            <a:normAutofit fontScale="25000" lnSpcReduction="20000"/>
          </a:bodyPr>
          <a:lstStyle/>
          <a:p>
            <a:pPr marL="0" indent="0">
              <a:buNone/>
            </a:pPr>
            <a:r>
              <a:rPr lang="en-US" sz="4800" b="1" dirty="0"/>
              <a:t>Core Python Libraries (Analysis &amp; Data Handling)</a:t>
            </a:r>
          </a:p>
          <a:p>
            <a:r>
              <a:rPr lang="en-US" sz="4800" b="1" dirty="0"/>
              <a:t>pandas:</a:t>
            </a:r>
            <a:r>
              <a:rPr lang="en-US" sz="4800" dirty="0"/>
              <a:t> Primary library for </a:t>
            </a:r>
            <a:r>
              <a:rPr lang="en-US" sz="4800" b="1" dirty="0"/>
              <a:t>Data Manipulation, Cleaning, and Transformation</a:t>
            </a:r>
            <a:r>
              <a:rPr lang="en-US" sz="4800" dirty="0"/>
              <a:t>. Used for reading the Excel file, handling missing values, and engineering new features.</a:t>
            </a:r>
          </a:p>
          <a:p>
            <a:r>
              <a:rPr lang="en-US" sz="4800" b="1" dirty="0"/>
              <a:t>numpy:</a:t>
            </a:r>
            <a:r>
              <a:rPr lang="en-US" sz="4800" dirty="0"/>
              <a:t> Utilized for </a:t>
            </a:r>
            <a:r>
              <a:rPr lang="en-US" sz="4800" b="1" dirty="0"/>
              <a:t>Efficient Numerical Operations</a:t>
            </a:r>
            <a:r>
              <a:rPr lang="en-US" sz="4800" dirty="0"/>
              <a:t> and array processing.</a:t>
            </a:r>
          </a:p>
          <a:p>
            <a:r>
              <a:rPr lang="en-US" sz="4800" b="1" dirty="0"/>
              <a:t>datetime:</a:t>
            </a:r>
            <a:r>
              <a:rPr lang="en-US" sz="4800" dirty="0"/>
              <a:t> Crucial for all </a:t>
            </a:r>
            <a:r>
              <a:rPr lang="en-US" sz="4800" b="1" dirty="0"/>
              <a:t>Temporal Data Handling</a:t>
            </a:r>
            <a:r>
              <a:rPr lang="en-US" sz="4800" dirty="0"/>
              <a:t>, including parsing date columns, calculating time differences, and analyzing seasonality.</a:t>
            </a:r>
          </a:p>
          <a:p>
            <a:r>
              <a:rPr lang="en-US" sz="4800" b="1" dirty="0"/>
              <a:t>openpyxl:</a:t>
            </a:r>
            <a:r>
              <a:rPr lang="en-US" sz="4800" dirty="0"/>
              <a:t> The specific engine required by pandas to successfully </a:t>
            </a:r>
            <a:r>
              <a:rPr lang="en-US" sz="4800" b="1" dirty="0"/>
              <a:t>Read Data</a:t>
            </a:r>
            <a:r>
              <a:rPr lang="en-US" sz="4800" dirty="0"/>
              <a:t> from the .xlsx file format.</a:t>
            </a:r>
          </a:p>
          <a:p>
            <a:r>
              <a:rPr lang="en-US" sz="4800" b="1" dirty="0"/>
              <a:t>Visualization Libraries</a:t>
            </a:r>
          </a:p>
          <a:p>
            <a:r>
              <a:rPr lang="en-US" sz="4800" b="1" dirty="0"/>
              <a:t>matplotlib:</a:t>
            </a:r>
            <a:r>
              <a:rPr lang="en-US" sz="4800" dirty="0"/>
              <a:t> Provides the </a:t>
            </a:r>
            <a:r>
              <a:rPr lang="en-US" sz="4800" b="1" dirty="0"/>
              <a:t>Base Plotting</a:t>
            </a:r>
            <a:r>
              <a:rPr lang="en-US" sz="4800" dirty="0"/>
              <a:t> functionality and low-level control for creating and customizing all charts (Histograms, Box Plots, etc.).</a:t>
            </a:r>
          </a:p>
          <a:p>
            <a:r>
              <a:rPr lang="en-US" sz="4800" b="1" dirty="0"/>
              <a:t>seaborn:</a:t>
            </a:r>
            <a:r>
              <a:rPr lang="en-US" sz="4800" dirty="0"/>
              <a:t> Used extensively for </a:t>
            </a:r>
            <a:r>
              <a:rPr lang="en-US" sz="4800" b="1" dirty="0"/>
              <a:t>Advanced Statistical Visualization</a:t>
            </a:r>
            <a:r>
              <a:rPr lang="en-US" sz="4800" dirty="0"/>
              <a:t>. It delivers aesthetically pleasing and highly informative charts like the styled Box Plots and Bar Charts, often used for clearer analysis than default matplotlib.</a:t>
            </a:r>
          </a:p>
          <a:p>
            <a:pPr marL="0" indent="0">
              <a:buNone/>
            </a:pPr>
            <a:r>
              <a:rPr lang="en-US" sz="4800" b="1" dirty="0"/>
              <a:t>Environment</a:t>
            </a:r>
          </a:p>
          <a:p>
            <a:r>
              <a:rPr lang="en-US" sz="4800" b="1" dirty="0"/>
              <a:t>Python 3.11:</a:t>
            </a:r>
            <a:r>
              <a:rPr lang="en-US" sz="4800" dirty="0"/>
              <a:t> The </a:t>
            </a:r>
            <a:r>
              <a:rPr lang="en-US" sz="4800" b="1" dirty="0"/>
              <a:t>Programming Language</a:t>
            </a:r>
            <a:r>
              <a:rPr lang="en-US" sz="4800" dirty="0"/>
              <a:t> used for the entire project.</a:t>
            </a:r>
          </a:p>
          <a:p>
            <a:r>
              <a:rPr lang="en-US" sz="4800" b="1" dirty="0"/>
              <a:t>Jupyter Notebook:</a:t>
            </a:r>
            <a:r>
              <a:rPr lang="en-US" sz="4800" dirty="0"/>
              <a:t> The </a:t>
            </a:r>
            <a:r>
              <a:rPr lang="en-US" sz="4800" b="1" dirty="0"/>
              <a:t>Interactive Development and Presentation Environment</a:t>
            </a:r>
            <a:r>
              <a:rPr lang="en-US" sz="4800" dirty="0"/>
              <a:t> where the code runs, visualizations are displayed, and documentation resides (airbnb_analysis.ipynb).</a:t>
            </a:r>
          </a:p>
          <a:p>
            <a:pPr marL="0" indent="0">
              <a:buNone/>
            </a:pPr>
            <a:endParaRPr lang="en-IN"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3433C-8EEB-EEEE-4E54-949179C4687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480F86E-34F2-8F57-E570-005B7CDAF65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BB909FD-C57C-8295-A501-8222388509C6}"/>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EB961B7F-FBDB-F281-536D-32FF3B621C7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949D928-B4FF-A07A-9EFD-AA55B5DDB4C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171711B-FB9B-0888-C521-BAF0CD7B5523}"/>
              </a:ext>
            </a:extLst>
          </p:cNvPr>
          <p:cNvPicPr>
            <a:picLocks noChangeAspect="1"/>
          </p:cNvPicPr>
          <p:nvPr/>
        </p:nvPicPr>
        <p:blipFill>
          <a:blip r:embed="rId3"/>
          <a:stretch>
            <a:fillRect/>
          </a:stretch>
        </p:blipFill>
        <p:spPr>
          <a:xfrm>
            <a:off x="247261" y="1343608"/>
            <a:ext cx="5948266" cy="5143803"/>
          </a:xfrm>
          <a:prstGeom prst="rect">
            <a:avLst/>
          </a:prstGeom>
        </p:spPr>
      </p:pic>
      <p:pic>
        <p:nvPicPr>
          <p:cNvPr id="11" name="Picture 10">
            <a:extLst>
              <a:ext uri="{FF2B5EF4-FFF2-40B4-BE49-F238E27FC236}">
                <a16:creationId xmlns:a16="http://schemas.microsoft.com/office/drawing/2014/main" id="{2A17069A-B624-5DD5-79C3-27DAFB53F099}"/>
              </a:ext>
            </a:extLst>
          </p:cNvPr>
          <p:cNvPicPr>
            <a:picLocks noChangeAspect="1"/>
          </p:cNvPicPr>
          <p:nvPr/>
        </p:nvPicPr>
        <p:blipFill>
          <a:blip r:embed="rId4"/>
          <a:stretch>
            <a:fillRect/>
          </a:stretch>
        </p:blipFill>
        <p:spPr>
          <a:xfrm>
            <a:off x="6360105" y="555171"/>
            <a:ext cx="5668609" cy="5932240"/>
          </a:xfrm>
          <a:prstGeom prst="rect">
            <a:avLst/>
          </a:prstGeom>
        </p:spPr>
      </p:pic>
    </p:spTree>
    <p:extLst>
      <p:ext uri="{BB962C8B-B14F-4D97-AF65-F5344CB8AC3E}">
        <p14:creationId xmlns:p14="http://schemas.microsoft.com/office/powerpoint/2010/main" val="319127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4BFDB-F98B-DAC9-6C82-0E02D7A8EA0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78762F-2608-881E-5205-C180CF1ABDF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6E598D8-6375-6A02-D525-A6A7DCA61CB1}"/>
              </a:ext>
            </a:extLst>
          </p:cNvPr>
          <p:cNvSpPr>
            <a:spLocks noGrp="1"/>
          </p:cNvSpPr>
          <p:nvPr>
            <p:ph type="title"/>
          </p:nvPr>
        </p:nvSpPr>
        <p:spPr>
          <a:xfrm>
            <a:off x="675957" y="370589"/>
            <a:ext cx="2981643" cy="830997"/>
          </a:xfrm>
        </p:spPr>
        <p:txBody>
          <a:bodyPr>
            <a:normAutofit/>
          </a:bodyPr>
          <a:lstStyle/>
          <a:p>
            <a:r>
              <a:rPr lang="en-GB" dirty="0"/>
              <a:t>RESULTS2 </a:t>
            </a:r>
            <a:endParaRPr lang="en-IN" dirty="0"/>
          </a:p>
        </p:txBody>
      </p:sp>
      <p:sp>
        <p:nvSpPr>
          <p:cNvPr id="7" name="Text Placeholder 30">
            <a:extLst>
              <a:ext uri="{FF2B5EF4-FFF2-40B4-BE49-F238E27FC236}">
                <a16:creationId xmlns:a16="http://schemas.microsoft.com/office/drawing/2014/main" id="{FA4744CB-CF60-D640-3EF5-61222C6C62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0D8CD9B-A49A-FBB8-1E4E-724D57A72A7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A6080A2-7547-75D1-9D43-E6D518C5ACC1}"/>
              </a:ext>
            </a:extLst>
          </p:cNvPr>
          <p:cNvPicPr>
            <a:picLocks noChangeAspect="1"/>
          </p:cNvPicPr>
          <p:nvPr/>
        </p:nvPicPr>
        <p:blipFill>
          <a:blip r:embed="rId3"/>
          <a:stretch>
            <a:fillRect/>
          </a:stretch>
        </p:blipFill>
        <p:spPr>
          <a:xfrm>
            <a:off x="0" y="1175090"/>
            <a:ext cx="5812971" cy="4852486"/>
          </a:xfrm>
          <a:prstGeom prst="rect">
            <a:avLst/>
          </a:prstGeom>
        </p:spPr>
      </p:pic>
      <p:pic>
        <p:nvPicPr>
          <p:cNvPr id="9" name="Picture 8">
            <a:extLst>
              <a:ext uri="{FF2B5EF4-FFF2-40B4-BE49-F238E27FC236}">
                <a16:creationId xmlns:a16="http://schemas.microsoft.com/office/drawing/2014/main" id="{2AFAB818-7C71-6C18-4A1E-2C7A1F9A6B6F}"/>
              </a:ext>
            </a:extLst>
          </p:cNvPr>
          <p:cNvPicPr>
            <a:picLocks noChangeAspect="1"/>
          </p:cNvPicPr>
          <p:nvPr/>
        </p:nvPicPr>
        <p:blipFill>
          <a:blip r:embed="rId4"/>
          <a:stretch>
            <a:fillRect/>
          </a:stretch>
        </p:blipFill>
        <p:spPr>
          <a:xfrm>
            <a:off x="5915608" y="298580"/>
            <a:ext cx="6276392" cy="6173340"/>
          </a:xfrm>
          <a:prstGeom prst="rect">
            <a:avLst/>
          </a:prstGeom>
        </p:spPr>
      </p:pic>
    </p:spTree>
    <p:extLst>
      <p:ext uri="{BB962C8B-B14F-4D97-AF65-F5344CB8AC3E}">
        <p14:creationId xmlns:p14="http://schemas.microsoft.com/office/powerpoint/2010/main" val="2809406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C763ABC2-EA77-B197-3A11-A5C58ED99323}"/>
              </a:ext>
            </a:extLst>
          </p:cNvPr>
          <p:cNvPicPr>
            <a:picLocks noChangeAspect="1"/>
          </p:cNvPicPr>
          <p:nvPr/>
        </p:nvPicPr>
        <p:blipFill>
          <a:blip r:embed="rId3"/>
          <a:stretch>
            <a:fillRect/>
          </a:stretch>
        </p:blipFill>
        <p:spPr>
          <a:xfrm>
            <a:off x="320982" y="1427584"/>
            <a:ext cx="11370275" cy="5159827"/>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RESULTS4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E2C9DEDA-E924-066B-0E9D-3F5E5829F41F}"/>
              </a:ext>
            </a:extLst>
          </p:cNvPr>
          <p:cNvPicPr>
            <a:picLocks noChangeAspect="1"/>
          </p:cNvPicPr>
          <p:nvPr/>
        </p:nvPicPr>
        <p:blipFill>
          <a:blip r:embed="rId3"/>
          <a:stretch>
            <a:fillRect/>
          </a:stretch>
        </p:blipFill>
        <p:spPr>
          <a:xfrm>
            <a:off x="80866" y="1343609"/>
            <a:ext cx="12226212" cy="551439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RESULTS5</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AB1EB925-DD7D-F5EF-FB80-3D69177C328A}"/>
              </a:ext>
            </a:extLst>
          </p:cNvPr>
          <p:cNvPicPr>
            <a:picLocks noChangeAspect="1"/>
          </p:cNvPicPr>
          <p:nvPr/>
        </p:nvPicPr>
        <p:blipFill>
          <a:blip r:embed="rId3"/>
          <a:stretch>
            <a:fillRect/>
          </a:stretch>
        </p:blipFill>
        <p:spPr>
          <a:xfrm>
            <a:off x="0" y="1427454"/>
            <a:ext cx="5756987" cy="5337240"/>
          </a:xfrm>
          <a:prstGeom prst="rect">
            <a:avLst/>
          </a:prstGeom>
        </p:spPr>
      </p:pic>
      <p:pic>
        <p:nvPicPr>
          <p:cNvPr id="15" name="Picture 14">
            <a:extLst>
              <a:ext uri="{FF2B5EF4-FFF2-40B4-BE49-F238E27FC236}">
                <a16:creationId xmlns:a16="http://schemas.microsoft.com/office/drawing/2014/main" id="{D6920183-A4F5-E467-8A06-5CE70F9A86BA}"/>
              </a:ext>
            </a:extLst>
          </p:cNvPr>
          <p:cNvPicPr>
            <a:picLocks noChangeAspect="1"/>
          </p:cNvPicPr>
          <p:nvPr/>
        </p:nvPicPr>
        <p:blipFill>
          <a:blip r:embed="rId4"/>
          <a:stretch>
            <a:fillRect/>
          </a:stretch>
        </p:blipFill>
        <p:spPr>
          <a:xfrm>
            <a:off x="5832024" y="1275371"/>
            <a:ext cx="6359976" cy="5582628"/>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320982" y="2562461"/>
            <a:ext cx="8794036" cy="2553970"/>
          </a:xfrm>
        </p:spPr>
        <p:txBody>
          <a:bodyPr vert="horz" lIns="91440" tIns="45720" rIns="91440" bIns="45720" rtlCol="0" anchor="t">
            <a:normAutofit/>
          </a:bodyPr>
          <a:lstStyle/>
          <a:p>
            <a:pPr marL="0" indent="0">
              <a:buNone/>
            </a:pPr>
            <a:r>
              <a:rPr lang="en-US" dirty="0"/>
              <a:t>GitHub Repository Link: </a:t>
            </a:r>
            <a:r>
              <a:rPr lang="en-US" dirty="0">
                <a:hlinkClick r:id="rId3"/>
              </a:rPr>
              <a:t>https://github.com/Ansh07017/VOIS_AICTE_Oct2025_AnshPratapSingh</a:t>
            </a:r>
            <a:r>
              <a:rPr lang="en-US" dirty="0"/>
              <a:t> </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909E0B2-F9A8-4EE4-EE82-E0BFAC84896B}"/>
              </a:ext>
            </a:extLst>
          </p:cNvPr>
          <p:cNvPicPr>
            <a:picLocks noChangeAspect="1"/>
          </p:cNvPicPr>
          <p:nvPr/>
        </p:nvPicPr>
        <p:blipFill>
          <a:blip r:embed="rId3"/>
          <a:stretch>
            <a:fillRect/>
          </a:stretch>
        </p:blipFill>
        <p:spPr>
          <a:xfrm>
            <a:off x="623976" y="1275370"/>
            <a:ext cx="9285133" cy="5355771"/>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81306EA4-AB0B-2832-51D7-A86459E1A840}"/>
              </a:ext>
            </a:extLst>
          </p:cNvPr>
          <p:cNvPicPr>
            <a:picLocks noChangeAspect="1"/>
          </p:cNvPicPr>
          <p:nvPr/>
        </p:nvPicPr>
        <p:blipFill>
          <a:blip r:embed="rId3"/>
          <a:stretch>
            <a:fillRect/>
          </a:stretch>
        </p:blipFill>
        <p:spPr>
          <a:xfrm>
            <a:off x="645594" y="1275370"/>
            <a:ext cx="9310169" cy="5389590"/>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444620" y="2200781"/>
            <a:ext cx="7941117" cy="2387918"/>
          </a:xfrm>
        </p:spPr>
        <p:txBody>
          <a:bodyPr>
            <a:normAutofit/>
          </a:bodyPr>
          <a:lstStyle/>
          <a:p>
            <a:r>
              <a:rPr lang="en-US" dirty="0">
                <a:solidFill>
                  <a:schemeClr val="tx1"/>
                </a:solidFill>
              </a:rPr>
              <a:t>I'm genuinely thankful for the opportunity to have worked on this challenging and insightful Airbnb project. It provided a perfect platform to combine strong data analysis with direct, actionable business strategy.</a:t>
            </a:r>
          </a:p>
          <a:p>
            <a:r>
              <a:rPr lang="en-US" dirty="0">
                <a:solidFill>
                  <a:schemeClr val="tx1"/>
                </a:solidFill>
              </a:rPr>
              <a:t>											- Ansh Pratap Singh</a:t>
            </a:r>
            <a:endParaRPr lang="en-IN" dirty="0">
              <a:solidFill>
                <a:schemeClr val="tx1"/>
              </a:solidFill>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611</TotalTime>
  <Words>982</Words>
  <Application>Microsoft Office PowerPoint</Application>
  <PresentationFormat>Widescreen</PresentationFormat>
  <Paragraphs>69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      Airbnb Market Intelligence      Optimizing Pricing and Host Performance for Success</vt:lpstr>
      <vt:lpstr>PROBLEM  STATEMENT</vt:lpstr>
      <vt:lpstr>Project Overview: This project is a comprehensive Jupyter Notebook-based data analysis application designed to extract actionable insights from over 100,000 Airbnb listings. The core objective is to move beyond simple descriptive statistics to understand the underlying drivers of success for Airbnb hosts. By systematically analyzing the relationships between booking patterns, pricing, guest behavior, and host performance, this project provides a data-driven framework for strategic decision-making in the competitive short-term rental market.    Analysis Modules and Key Visualizations:</vt:lpstr>
      <vt:lpstr>PowerPoint Presentation</vt:lpstr>
      <vt:lpstr>Technology Used</vt:lpstr>
      <vt:lpstr>RESULTS1 </vt:lpstr>
      <vt:lpstr>RESULTS2 </vt:lpstr>
      <vt:lpstr>RESULTS3 </vt:lpstr>
      <vt:lpstr>RESULTS4 </vt:lpstr>
      <vt:lpstr>RESULTS5</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Ansh Pratap Singh</cp:lastModifiedBy>
  <cp:revision>106</cp:revision>
  <dcterms:created xsi:type="dcterms:W3CDTF">2021-07-11T13:13:15Z</dcterms:created>
  <dcterms:modified xsi:type="dcterms:W3CDTF">2025-10-03T03:55:02Z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